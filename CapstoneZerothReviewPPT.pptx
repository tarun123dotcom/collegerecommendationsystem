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4630400" cy="8229600"/>
  <p:notesSz cx="8229600" cy="14630400"/>
  <p:defaultTextStyle>
    <a:defPPr>
      <a:defRPr lang="te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43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6646164"/>
            <a:ext cx="6345936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229425"/>
            <a:ext cx="6282223" cy="155595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69848" y="6726150"/>
            <a:ext cx="587044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80"/>
              </a:lnSpc>
              <a:buNone/>
            </a:pPr>
            <a:r>
              <a:rPr lang="en-GB" sz="2320" dirty="0">
                <a:solidFill>
                  <a:schemeClr val="bg1"/>
                </a:solidFill>
              </a:rPr>
              <a:t>21MIC7014  - M. Gayathri Priyanka</a:t>
            </a:r>
          </a:p>
          <a:p>
            <a:pPr marL="0" indent="0" algn="ctr">
              <a:lnSpc>
                <a:spcPts val="3480"/>
              </a:lnSpc>
              <a:buNone/>
            </a:pPr>
            <a:r>
              <a:rPr lang="en-GB" sz="2320" dirty="0">
                <a:solidFill>
                  <a:schemeClr val="bg1"/>
                </a:solidFill>
              </a:rPr>
              <a:t>21MIC7023 – T.K. Vamsi Krishna</a:t>
            </a:r>
          </a:p>
          <a:p>
            <a:pPr marL="0" indent="0" algn="ctr">
              <a:lnSpc>
                <a:spcPts val="3480"/>
              </a:lnSpc>
              <a:buNone/>
            </a:pPr>
            <a:r>
              <a:rPr lang="en-GB" sz="2320" dirty="0">
                <a:solidFill>
                  <a:schemeClr val="bg1"/>
                </a:solidFill>
              </a:rPr>
              <a:t>21MIC7027 – Ch. Tarun Siddardha</a:t>
            </a:r>
            <a:endParaRPr lang="en-US" sz="2320" dirty="0">
              <a:solidFill>
                <a:schemeClr val="bg1"/>
              </a:solidFill>
            </a:endParaRPr>
          </a:p>
        </p:txBody>
      </p:sp>
      <p:sp>
        <p:nvSpPr>
          <p:cNvPr id="7" name="Text 1"/>
          <p:cNvSpPr/>
          <p:nvPr/>
        </p:nvSpPr>
        <p:spPr>
          <a:xfrm>
            <a:off x="7872984" y="6765036"/>
            <a:ext cx="587044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80"/>
              </a:lnSpc>
              <a:buNone/>
            </a:pPr>
            <a:r>
              <a:rPr lang="en-GB" sz="2320" dirty="0">
                <a:solidFill>
                  <a:schemeClr val="bg1"/>
                </a:solidFill>
              </a:rPr>
              <a:t>Guide : Dr. Rajesh </a:t>
            </a:r>
            <a:r>
              <a:rPr lang="en-GB" sz="2320" dirty="0" err="1">
                <a:solidFill>
                  <a:schemeClr val="bg1"/>
                </a:solidFill>
              </a:rPr>
              <a:t>Dhuvvuru</a:t>
            </a:r>
            <a:endParaRPr lang="en-US" sz="2320" dirty="0">
              <a:solidFill>
                <a:schemeClr val="bg1"/>
              </a:solidFill>
            </a:endParaRPr>
          </a:p>
        </p:txBody>
      </p:sp>
      <p:sp>
        <p:nvSpPr>
          <p:cNvPr id="8" name="Text 2"/>
          <p:cNvSpPr/>
          <p:nvPr/>
        </p:nvSpPr>
        <p:spPr>
          <a:xfrm>
            <a:off x="832104" y="3456432"/>
            <a:ext cx="1335633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610"/>
              </a:lnSpc>
              <a:buNone/>
            </a:pPr>
            <a:r>
              <a:rPr lang="en-US" sz="540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NLP Logic Refinement for College Recommendation System</a:t>
            </a:r>
            <a:endParaRPr lang="en-US" sz="54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71232" y="3803904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4. Entity Extraction Enhancements</a:t>
            </a:r>
            <a:endParaRPr lang="en-US" sz="2400" b="1" dirty="0"/>
          </a:p>
        </p:txBody>
      </p:sp>
      <p:sp>
        <p:nvSpPr>
          <p:cNvPr id="5" name="Text 1"/>
          <p:cNvSpPr/>
          <p:nvPr/>
        </p:nvSpPr>
        <p:spPr>
          <a:xfrm>
            <a:off x="1078992" y="3803904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3. Model Loading Improvements</a:t>
            </a:r>
            <a:endParaRPr lang="en-US" sz="2400" b="1" dirty="0"/>
          </a:p>
        </p:txBody>
      </p:sp>
      <p:sp>
        <p:nvSpPr>
          <p:cNvPr id="6" name="Text 2"/>
          <p:cNvSpPr/>
          <p:nvPr/>
        </p:nvSpPr>
        <p:spPr>
          <a:xfrm>
            <a:off x="7571232" y="3090672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2. Issues Identified</a:t>
            </a:r>
            <a:endParaRPr lang="en-US" sz="2400" b="1" dirty="0"/>
          </a:p>
        </p:txBody>
      </p:sp>
      <p:sp>
        <p:nvSpPr>
          <p:cNvPr id="7" name="Text 3"/>
          <p:cNvSpPr/>
          <p:nvPr/>
        </p:nvSpPr>
        <p:spPr>
          <a:xfrm>
            <a:off x="1078992" y="5925312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9. Summary &amp; Benefits</a:t>
            </a:r>
            <a:endParaRPr lang="en-US" sz="2400" b="1" dirty="0"/>
          </a:p>
        </p:txBody>
      </p:sp>
      <p:sp>
        <p:nvSpPr>
          <p:cNvPr id="8" name="Text 4"/>
          <p:cNvSpPr/>
          <p:nvPr/>
        </p:nvSpPr>
        <p:spPr>
          <a:xfrm>
            <a:off x="832104" y="1472184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CONTENTS</a:t>
            </a:r>
            <a:endParaRPr lang="en-US" sz="6410" dirty="0">
              <a:latin typeface="Algerian" panose="04020705040A02060702" pitchFamily="8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71232" y="4507992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6. Generalization &amp; Maintenance</a:t>
            </a:r>
            <a:endParaRPr lang="en-US" sz="2400" b="1" dirty="0"/>
          </a:p>
        </p:txBody>
      </p:sp>
      <p:sp>
        <p:nvSpPr>
          <p:cNvPr id="10" name="Text 6"/>
          <p:cNvSpPr/>
          <p:nvPr/>
        </p:nvSpPr>
        <p:spPr>
          <a:xfrm>
            <a:off x="1078992" y="3090672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1. Current NLP Logic Overview</a:t>
            </a:r>
            <a:endParaRPr lang="en-US" sz="2400" b="1" dirty="0"/>
          </a:p>
        </p:txBody>
      </p:sp>
      <p:sp>
        <p:nvSpPr>
          <p:cNvPr id="11" name="Text 7"/>
          <p:cNvSpPr/>
          <p:nvPr/>
        </p:nvSpPr>
        <p:spPr>
          <a:xfrm>
            <a:off x="7571232" y="5221224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8. Return Structure &amp; Output</a:t>
            </a:r>
            <a:endParaRPr lang="en-US" sz="2400" b="1" dirty="0"/>
          </a:p>
        </p:txBody>
      </p:sp>
      <p:sp>
        <p:nvSpPr>
          <p:cNvPr id="12" name="Text 8"/>
          <p:cNvSpPr/>
          <p:nvPr/>
        </p:nvSpPr>
        <p:spPr>
          <a:xfrm>
            <a:off x="1078992" y="4507992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5. Fee Category &amp; Rating Extraction</a:t>
            </a:r>
            <a:endParaRPr lang="en-US" sz="2400" b="1" dirty="0"/>
          </a:p>
        </p:txBody>
      </p:sp>
      <p:sp>
        <p:nvSpPr>
          <p:cNvPr id="13" name="Text 9"/>
          <p:cNvSpPr/>
          <p:nvPr/>
        </p:nvSpPr>
        <p:spPr>
          <a:xfrm>
            <a:off x="1078992" y="5221224"/>
            <a:ext cx="598932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E1E1E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7. Error Handling &amp; Logging</a:t>
            </a:r>
            <a:endParaRPr 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01</a:t>
            </a:r>
            <a:endParaRPr lang="en-US" sz="6410" dirty="0"/>
          </a:p>
        </p:txBody>
      </p:sp>
      <p:sp>
        <p:nvSpPr>
          <p:cNvPr id="6" name="Text 1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8" name="Text 3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Current NLP Logic Overview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581144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3593592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4581144"/>
            <a:ext cx="475488" cy="475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593592"/>
            <a:ext cx="475488" cy="4754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614416"/>
            <a:ext cx="475488" cy="475488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996696" y="459943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10" name="Text 1"/>
          <p:cNvSpPr/>
          <p:nvPr/>
        </p:nvSpPr>
        <p:spPr>
          <a:xfrm>
            <a:off x="7626096" y="361188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11" name="Text 2"/>
          <p:cNvSpPr/>
          <p:nvPr/>
        </p:nvSpPr>
        <p:spPr>
          <a:xfrm>
            <a:off x="8238744" y="3621024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2000" b="1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Hardcoded lists for districts, states, fee categories</a:t>
            </a:r>
            <a:endParaRPr lang="en-US" sz="2000" b="1" dirty="0"/>
          </a:p>
        </p:txBody>
      </p:sp>
      <p:sp>
        <p:nvSpPr>
          <p:cNvPr id="12" name="Text 3"/>
          <p:cNvSpPr/>
          <p:nvPr/>
        </p:nvSpPr>
        <p:spPr>
          <a:xfrm>
            <a:off x="1609344" y="4608576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2000" b="1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Substring matching for keywords</a:t>
            </a:r>
            <a:endParaRPr lang="en-US" sz="2000" b="1" dirty="0"/>
          </a:p>
        </p:txBody>
      </p:sp>
      <p:sp>
        <p:nvSpPr>
          <p:cNvPr id="13" name="Text 4"/>
          <p:cNvSpPr/>
          <p:nvPr/>
        </p:nvSpPr>
        <p:spPr>
          <a:xfrm>
            <a:off x="7635240" y="459943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4</a:t>
            </a:r>
            <a:endParaRPr lang="en-US" sz="2320" dirty="0"/>
          </a:p>
        </p:txBody>
      </p:sp>
      <p:sp>
        <p:nvSpPr>
          <p:cNvPr id="14" name="Text 5"/>
          <p:cNvSpPr/>
          <p:nvPr/>
        </p:nvSpPr>
        <p:spPr>
          <a:xfrm>
            <a:off x="832104" y="1874520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Current NLP Logic Overview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247888" y="4608576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2000" b="1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Regex for rating extraction</a:t>
            </a:r>
            <a:endParaRPr lang="en-US" sz="2000" b="1" dirty="0"/>
          </a:p>
        </p:txBody>
      </p:sp>
      <p:sp>
        <p:nvSpPr>
          <p:cNvPr id="16" name="Text 7"/>
          <p:cNvSpPr/>
          <p:nvPr/>
        </p:nvSpPr>
        <p:spPr>
          <a:xfrm>
            <a:off x="987552" y="361188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17" name="Text 8"/>
          <p:cNvSpPr/>
          <p:nvPr/>
        </p:nvSpPr>
        <p:spPr>
          <a:xfrm>
            <a:off x="1463040" y="3474720"/>
            <a:ext cx="5550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2000" b="1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Uses spaCy for entity extraction (custom model fallback)</a:t>
            </a:r>
            <a:endParaRPr lang="en-US" sz="2000" b="1" dirty="0"/>
          </a:p>
        </p:txBody>
      </p:sp>
      <p:sp>
        <p:nvSpPr>
          <p:cNvPr id="18" name="Text 9"/>
          <p:cNvSpPr/>
          <p:nvPr/>
        </p:nvSpPr>
        <p:spPr>
          <a:xfrm>
            <a:off x="1609344" y="5641848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2000" b="1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Limited handling of comparative phrases</a:t>
            </a:r>
            <a:endParaRPr lang="en-US" sz="2000" b="1" dirty="0"/>
          </a:p>
        </p:txBody>
      </p:sp>
      <p:sp>
        <p:nvSpPr>
          <p:cNvPr id="19" name="Text 10"/>
          <p:cNvSpPr/>
          <p:nvPr/>
        </p:nvSpPr>
        <p:spPr>
          <a:xfrm>
            <a:off x="996696" y="563270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5</a:t>
            </a:r>
            <a:endParaRPr lang="en-US" sz="23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02</a:t>
            </a:r>
            <a:endParaRPr lang="en-US" sz="6410" dirty="0"/>
          </a:p>
        </p:txBody>
      </p:sp>
      <p:sp>
        <p:nvSpPr>
          <p:cNvPr id="8" name="Text 3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9" name="Text 4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Issues Identified</a:t>
            </a:r>
            <a:endParaRPr lang="en-US" sz="464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5184648"/>
            <a:ext cx="576072" cy="7680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280" y="2496312"/>
            <a:ext cx="768096" cy="7680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032" y="2496312"/>
            <a:ext cx="676656" cy="7680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12" y="5184648"/>
            <a:ext cx="768096" cy="7680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2496312"/>
            <a:ext cx="768096" cy="76809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32104" y="1216152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Issues Identified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04104" y="3502152"/>
            <a:ext cx="3831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No typo tolerance or fuzzy matching</a:t>
            </a:r>
            <a:endParaRPr lang="en-US" sz="1850" dirty="0"/>
          </a:p>
        </p:txBody>
      </p:sp>
      <p:sp>
        <p:nvSpPr>
          <p:cNvPr id="10" name="Text 2"/>
          <p:cNvSpPr/>
          <p:nvPr/>
        </p:nvSpPr>
        <p:spPr>
          <a:xfrm>
            <a:off x="9848088" y="3502152"/>
            <a:ext cx="3831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Only first match is used for some entities, others may be missed</a:t>
            </a:r>
            <a:endParaRPr lang="en-US" sz="1850" dirty="0"/>
          </a:p>
        </p:txBody>
      </p:sp>
      <p:sp>
        <p:nvSpPr>
          <p:cNvPr id="11" name="Text 3"/>
          <p:cNvSpPr/>
          <p:nvPr/>
        </p:nvSpPr>
        <p:spPr>
          <a:xfrm>
            <a:off x="960120" y="6181344"/>
            <a:ext cx="3831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Comparative phrases for ratings are limited and typo-prone</a:t>
            </a:r>
            <a:endParaRPr lang="en-US" sz="1850" dirty="0"/>
          </a:p>
        </p:txBody>
      </p:sp>
      <p:sp>
        <p:nvSpPr>
          <p:cNvPr id="12" name="Text 4"/>
          <p:cNvSpPr/>
          <p:nvPr/>
        </p:nvSpPr>
        <p:spPr>
          <a:xfrm>
            <a:off x="5404104" y="6181344"/>
            <a:ext cx="3831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Hardcoded lists are hard to maintain and update</a:t>
            </a:r>
            <a:endParaRPr lang="en-US" sz="1850" dirty="0"/>
          </a:p>
        </p:txBody>
      </p:sp>
      <p:sp>
        <p:nvSpPr>
          <p:cNvPr id="13" name="Text 5"/>
          <p:cNvSpPr/>
          <p:nvPr/>
        </p:nvSpPr>
        <p:spPr>
          <a:xfrm>
            <a:off x="960120" y="3502152"/>
            <a:ext cx="3831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Substring matching can cause false positives (e.g., "East" in "East Godavari" and "East Siang")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03</a:t>
            </a:r>
            <a:endParaRPr lang="en-US" sz="6410" dirty="0"/>
          </a:p>
        </p:txBody>
      </p:sp>
      <p:sp>
        <p:nvSpPr>
          <p:cNvPr id="6" name="Text 1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9" name="Text 4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Model Loading Improvements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5266944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4242816"/>
            <a:ext cx="475488" cy="4754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806440" y="1956816"/>
            <a:ext cx="80101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00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Model Loading Improvements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5971032" y="529437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6583680" y="5303520"/>
            <a:ext cx="7214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Ensure a valid spaCy model is always loaded for entity extraction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5971032" y="426110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10" name="Text 4"/>
          <p:cNvSpPr/>
          <p:nvPr/>
        </p:nvSpPr>
        <p:spPr>
          <a:xfrm>
            <a:off x="6583680" y="4270248"/>
            <a:ext cx="7214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Log fallback events if custom model fails to load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Entity Extraction Enhancements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04</a:t>
            </a:r>
            <a:endParaRPr lang="en-US" sz="6410" dirty="0"/>
          </a:p>
        </p:txBody>
      </p:sp>
      <p:sp>
        <p:nvSpPr>
          <p:cNvPr id="7" name="Text 2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10" name="Text 5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3474720"/>
            <a:ext cx="1005840" cy="1152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2568" y="3474720"/>
            <a:ext cx="722376" cy="1152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4288" y="3474720"/>
            <a:ext cx="1152144" cy="1152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848088" y="4855464"/>
            <a:ext cx="3831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Consider extracting all entities of a type, not just the first/last</a:t>
            </a:r>
            <a:endParaRPr lang="en-US" sz="1850" dirty="0"/>
          </a:p>
        </p:txBody>
      </p:sp>
      <p:sp>
        <p:nvSpPr>
          <p:cNvPr id="7" name="Text 1"/>
          <p:cNvSpPr/>
          <p:nvPr/>
        </p:nvSpPr>
        <p:spPr>
          <a:xfrm>
            <a:off x="960120" y="4855464"/>
            <a:ext cx="3831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Use regex with word boundaries or tokenization for district/state matching</a:t>
            </a:r>
            <a:endParaRPr lang="en-US" sz="1850" dirty="0"/>
          </a:p>
        </p:txBody>
      </p:sp>
      <p:sp>
        <p:nvSpPr>
          <p:cNvPr id="8" name="Text 2"/>
          <p:cNvSpPr/>
          <p:nvPr/>
        </p:nvSpPr>
        <p:spPr>
          <a:xfrm>
            <a:off x="832104" y="2194560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Entity Extraction Enhancements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5404104" y="4855464"/>
            <a:ext cx="3831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Normalize and lowercase all extracted entities for consistency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05</a:t>
            </a:r>
            <a:endParaRPr lang="en-US" sz="6410" dirty="0"/>
          </a:p>
        </p:txBody>
      </p:sp>
      <p:sp>
        <p:nvSpPr>
          <p:cNvPr id="9" name="Text 4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Fee Category &amp; Rating Extraction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4855464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855464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855464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422392" y="48737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8" name="Text 1"/>
          <p:cNvSpPr/>
          <p:nvPr/>
        </p:nvSpPr>
        <p:spPr>
          <a:xfrm>
            <a:off x="996696" y="48737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9" name="Text 2"/>
          <p:cNvSpPr/>
          <p:nvPr/>
        </p:nvSpPr>
        <p:spPr>
          <a:xfrm>
            <a:off x="6035040" y="4882896"/>
            <a:ext cx="33375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Expand rating extraction to include integers and context (e.g., "4 star college")</a:t>
            </a:r>
            <a:endParaRPr lang="en-US" sz="1850" dirty="0"/>
          </a:p>
        </p:txBody>
      </p:sp>
      <p:sp>
        <p:nvSpPr>
          <p:cNvPr id="10" name="Text 3"/>
          <p:cNvSpPr/>
          <p:nvPr/>
        </p:nvSpPr>
        <p:spPr>
          <a:xfrm>
            <a:off x="10460736" y="4882896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Use NLP to detect comparative phrases (e.g., "at least", "more than", "less than")</a:t>
            </a:r>
            <a:endParaRPr lang="en-US" sz="1850" dirty="0"/>
          </a:p>
        </p:txBody>
      </p:sp>
      <p:sp>
        <p:nvSpPr>
          <p:cNvPr id="11" name="Text 4"/>
          <p:cNvSpPr/>
          <p:nvPr/>
        </p:nvSpPr>
        <p:spPr>
          <a:xfrm>
            <a:off x="1609344" y="488289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Use NLP phrase matching or regex for robust fee detection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832104" y="3456432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Fee Category &amp; Rating Extraction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9848088" y="48737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320" dirty="0"/>
          </a:p>
        </p:txBody>
      </p:sp>
    </p:spTree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9" name="Text 4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Generalization &amp; Maintenance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06</a:t>
            </a:r>
            <a:endParaRPr lang="en-US" sz="64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474720"/>
            <a:ext cx="1152144" cy="1152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2568" y="3474720"/>
            <a:ext cx="722376" cy="1152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4288" y="3474720"/>
            <a:ext cx="1152144" cy="1152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04104" y="4855464"/>
            <a:ext cx="3831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Use fuzzy matching for typo tolerance (e.g., Levenshtein distance)</a:t>
            </a:r>
            <a:endParaRPr lang="en-US" sz="1850" dirty="0"/>
          </a:p>
        </p:txBody>
      </p:sp>
      <p:sp>
        <p:nvSpPr>
          <p:cNvPr id="7" name="Text 1"/>
          <p:cNvSpPr/>
          <p:nvPr/>
        </p:nvSpPr>
        <p:spPr>
          <a:xfrm>
            <a:off x="960120" y="4855464"/>
            <a:ext cx="3831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Move hardcoded lists (districts, states, etc.) to external config or database</a:t>
            </a:r>
            <a:endParaRPr lang="en-US" sz="1850" dirty="0"/>
          </a:p>
        </p:txBody>
      </p:sp>
      <p:sp>
        <p:nvSpPr>
          <p:cNvPr id="8" name="Text 2"/>
          <p:cNvSpPr/>
          <p:nvPr/>
        </p:nvSpPr>
        <p:spPr>
          <a:xfrm>
            <a:off x="832104" y="2194560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Generalization &amp; Maintenance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9848088" y="4855464"/>
            <a:ext cx="3831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Preprocess lists to lowercase once, use sets for faster lookups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Error Handling &amp; Logging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07</a:t>
            </a:r>
            <a:endParaRPr lang="en-US" sz="6410" dirty="0"/>
          </a:p>
        </p:txBody>
      </p:sp>
      <p:sp>
        <p:nvSpPr>
          <p:cNvPr id="7" name="Text 2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9" name="Text 4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3931920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4965192"/>
            <a:ext cx="475488" cy="4754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83680" y="4992624"/>
            <a:ext cx="7214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Add error handling for all NLP and extraction steps</a:t>
            </a:r>
            <a:endParaRPr lang="en-US" sz="1850" dirty="0"/>
          </a:p>
        </p:txBody>
      </p:sp>
      <p:sp>
        <p:nvSpPr>
          <p:cNvPr id="7" name="Text 1"/>
          <p:cNvSpPr/>
          <p:nvPr/>
        </p:nvSpPr>
        <p:spPr>
          <a:xfrm>
            <a:off x="5971032" y="395020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5806440" y="2523744"/>
            <a:ext cx="8010144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Error Handling &amp; Logging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6583680" y="3959352"/>
            <a:ext cx="721461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Replace print statements with logging for better traceability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5971032" y="498348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Return Structure &amp; Output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10" name="Text 5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08</a:t>
            </a:r>
            <a:endParaRPr lang="en-US" sz="641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56" y="3621024"/>
            <a:ext cx="1216152" cy="12161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621024"/>
            <a:ext cx="1216152" cy="121615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60120" y="5065776"/>
            <a:ext cx="6053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Clean up entity dictionary before returning (remove empty keys)</a:t>
            </a: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2331720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Return Structure &amp; Output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7626096" y="5065776"/>
            <a:ext cx="605332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Log final extracted entities for debugging and audit</a:t>
            </a:r>
            <a:endParaRPr lang="en-US" sz="1850" dirty="0"/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9399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3008376"/>
            <a:ext cx="12984480" cy="1225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10"/>
              </a:lnSpc>
              <a:buNone/>
            </a:pPr>
            <a:r>
              <a:rPr lang="en-US" sz="641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09</a:t>
            </a:r>
            <a:endParaRPr lang="en-US" sz="6410" dirty="0"/>
          </a:p>
        </p:txBody>
      </p:sp>
      <p:sp>
        <p:nvSpPr>
          <p:cNvPr id="6" name="Text 1"/>
          <p:cNvSpPr/>
          <p:nvPr/>
        </p:nvSpPr>
        <p:spPr>
          <a:xfrm>
            <a:off x="832104" y="177393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5641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4640" dirty="0"/>
          </a:p>
        </p:txBody>
      </p:sp>
      <p:sp>
        <p:nvSpPr>
          <p:cNvPr id="8" name="Text 3"/>
          <p:cNvSpPr/>
          <p:nvPr/>
        </p:nvSpPr>
        <p:spPr>
          <a:xfrm>
            <a:off x="832104" y="4498848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i="1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Summary &amp; Benefits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32104" y="115214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2386584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855464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888736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5888736"/>
            <a:ext cx="475488" cy="4754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4855464"/>
            <a:ext cx="475488" cy="4754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996696" y="48737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320" dirty="0"/>
          </a:p>
        </p:txBody>
      </p:sp>
      <p:sp>
        <p:nvSpPr>
          <p:cNvPr id="9" name="Text 1"/>
          <p:cNvSpPr/>
          <p:nvPr/>
        </p:nvSpPr>
        <p:spPr>
          <a:xfrm>
            <a:off x="1609344" y="4882896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More precise and reliable entity extraction</a:t>
            </a:r>
            <a:endParaRPr lang="en-US" sz="1850" dirty="0"/>
          </a:p>
        </p:txBody>
      </p:sp>
      <p:sp>
        <p:nvSpPr>
          <p:cNvPr id="10" name="Text 2"/>
          <p:cNvSpPr/>
          <p:nvPr/>
        </p:nvSpPr>
        <p:spPr>
          <a:xfrm>
            <a:off x="996696" y="59070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320" dirty="0"/>
          </a:p>
        </p:txBody>
      </p:sp>
      <p:sp>
        <p:nvSpPr>
          <p:cNvPr id="11" name="Text 3"/>
          <p:cNvSpPr/>
          <p:nvPr/>
        </p:nvSpPr>
        <p:spPr>
          <a:xfrm>
            <a:off x="7635240" y="59070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4</a:t>
            </a:r>
            <a:endParaRPr lang="en-US" sz="2320" dirty="0"/>
          </a:p>
        </p:txBody>
      </p:sp>
      <p:sp>
        <p:nvSpPr>
          <p:cNvPr id="12" name="Text 4"/>
          <p:cNvSpPr/>
          <p:nvPr/>
        </p:nvSpPr>
        <p:spPr>
          <a:xfrm>
            <a:off x="832104" y="3456432"/>
            <a:ext cx="12984480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60"/>
              </a:lnSpc>
              <a:buNone/>
            </a:pPr>
            <a:r>
              <a:rPr lang="en-US" sz="464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Summary &amp; Benefits</a:t>
            </a:r>
            <a:endParaRPr lang="en-US" sz="4640" dirty="0">
              <a:latin typeface="Algerian" panose="04020705040A02060702" pitchFamily="82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47888" y="4882896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Easier maintenance and updates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7635240" y="48737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320" dirty="0"/>
          </a:p>
        </p:txBody>
      </p:sp>
      <p:sp>
        <p:nvSpPr>
          <p:cNvPr id="15" name="Text 7"/>
          <p:cNvSpPr/>
          <p:nvPr/>
        </p:nvSpPr>
        <p:spPr>
          <a:xfrm>
            <a:off x="1609344" y="5916168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Better user experience and fewer false positives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8247888" y="5916168"/>
            <a:ext cx="555040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E1E1E1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Improved debugging and transparency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3787" y="2986548"/>
            <a:ext cx="13551113" cy="2453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610"/>
              </a:lnSpc>
              <a:buNone/>
            </a:pPr>
            <a:r>
              <a:rPr lang="en-US" sz="11500" dirty="0">
                <a:solidFill>
                  <a:srgbClr val="75C6B8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Thank You</a:t>
            </a:r>
            <a:endParaRPr lang="en-US" sz="115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495</Words>
  <Application>Microsoft Office PowerPoint</Application>
  <PresentationFormat>Custom</PresentationFormat>
  <Paragraphs>118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Algerian</vt:lpstr>
      <vt:lpstr>Arial</vt:lpstr>
      <vt:lpstr>思源黑体-思源黑体-Medium</vt:lpstr>
      <vt:lpstr>思源黑体-思源黑体-Regular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Tarun Siddardha Chakkilam</cp:lastModifiedBy>
  <cp:revision>2</cp:revision>
  <dcterms:created xsi:type="dcterms:W3CDTF">2025-07-09T16:53:51Z</dcterms:created>
  <dcterms:modified xsi:type="dcterms:W3CDTF">2025-07-09T17:13:37Z</dcterms:modified>
</cp:coreProperties>
</file>